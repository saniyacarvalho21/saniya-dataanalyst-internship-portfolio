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Year-over-Year Revenue Growth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Sales ($)</c:v>
                </c:pt>
              </c:strCache>
            </c:strRef>
          </c:tx>
          <c:spPr>
            <a:solidFill>
              <a:srgbClr val="1F4E79"/>
            </a:solidFill>
            <a:ln w="381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6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484247</c:v>
                </c:pt>
                <c:pt idx="1">
                  <c:v>470532</c:v>
                </c:pt>
                <c:pt idx="2">
                  <c:v>609205</c:v>
                </c:pt>
                <c:pt idx="3">
                  <c:v>733215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6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Revenue by Product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6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EAF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836154</c:v>
                </c:pt>
                <c:pt idx="1">
                  <c:v>741999</c:v>
                </c:pt>
                <c:pt idx="2">
                  <c:v>719047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6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Sales Distribution by Region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bubble3D val="0"/>
            <c:spPr>
              <a:solidFill>
                <a:srgbClr val="1F4E79"/>
              </a:solidFill>
              <a:effectLst/>
            </c:spPr>
          </c:dPt>
          <c:dPt>
            <c:idx val="2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bubble3D val="0"/>
            <c:spPr>
              <a:solidFill>
                <a:srgbClr val="D6EAF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725458</c:v>
                </c:pt>
                <c:pt idx="1">
                  <c:v>678781</c:v>
                </c:pt>
                <c:pt idx="2">
                  <c:v>501240</c:v>
                </c:pt>
                <c:pt idx="3">
                  <c:v>391722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Top 10 Sub-Categories by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Phones</c:v>
                  </c:pt>
                  <c:pt idx="1">
                    <c:v>Chairs</c:v>
                  </c:pt>
                  <c:pt idx="2">
                    <c:v>Storage</c:v>
                  </c:pt>
                  <c:pt idx="3">
                    <c:v>Tables</c:v>
                  </c:pt>
                  <c:pt idx="4">
                    <c:v>Binders</c:v>
                  </c:pt>
                  <c:pt idx="5">
                    <c:v>Machines</c:v>
                  </c:pt>
                  <c:pt idx="6">
                    <c:v>Accessories</c:v>
                  </c:pt>
                  <c:pt idx="7">
                    <c:v>Copiers</c:v>
                  </c:pt>
                  <c:pt idx="8">
                    <c:v>Bookcases</c:v>
                  </c:pt>
                  <c:pt idx="9">
                    <c:v>Appliances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330007</c:v>
                </c:pt>
                <c:pt idx="1">
                  <c:v>328449</c:v>
                </c:pt>
                <c:pt idx="2">
                  <c:v>223844</c:v>
                </c:pt>
                <c:pt idx="3">
                  <c:v>206966</c:v>
                </c:pt>
                <c:pt idx="4">
                  <c:v>203413</c:v>
                </c:pt>
                <c:pt idx="5">
                  <c:v>189239</c:v>
                </c:pt>
                <c:pt idx="6">
                  <c:v>167380</c:v>
                </c:pt>
                <c:pt idx="7">
                  <c:v>149528</c:v>
                </c:pt>
                <c:pt idx="8">
                  <c:v>114880</c:v>
                </c:pt>
                <c:pt idx="9">
                  <c:v>107532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Avg Shipping Days by Ship Mode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Shipping Days</c:v>
                </c:pt>
              </c:strCache>
            </c:strRef>
          </c:tx>
          <c:spPr>
            <a:solidFill>
              <a:srgbClr val="A04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6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04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65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AD7A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Same Day</c:v>
                  </c:pt>
                  <c:pt idx="1">
                    <c:v>First Class</c:v>
                  </c:pt>
                  <c:pt idx="2">
                    <c:v>Second Class</c:v>
                  </c:pt>
                  <c:pt idx="3">
                    <c:v>Standard Class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2.2</c:v>
                </c:pt>
                <c:pt idx="2">
                  <c:v>3.8</c:v>
                </c:pt>
                <c:pt idx="3">
                  <c:v>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6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· Task 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48840" y="283464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0" y="283464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283464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23760" y="2834640"/>
            <a:ext cx="1554480" cy="365760"/>
          </a:xfrm>
          <a:prstGeom prst="roundRect">
            <a:avLst>
              <a:gd name="adj" fmla="val 175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260604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76732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3749040"/>
            <a:ext cx="260604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376732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291840" y="42793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260604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376732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126480" y="42793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 Objective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analytical findings into a business-focused narrative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gap between data analysis and strategic decision-making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revenue drivers and operational inefficiencies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insights supported by statistical evidence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clarity and impact for business stakeholders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804672"/>
            <a:ext cx="566928" cy="566928"/>
          </a:xfrm>
          <a:prstGeom prst="ellipse">
            <a:avLst/>
          </a:prstGeom>
          <a:solidFill>
            <a:srgbClr val="5D7A8A"/>
          </a:solidFill>
          <a:ln w="12700">
            <a:solidFill>
              <a:srgbClr val="5D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804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9784" y="1371600"/>
            <a:ext cx="0" cy="256032"/>
          </a:xfrm>
          <a:prstGeom prst="line">
            <a:avLst/>
          </a:prstGeom>
          <a:noFill/>
          <a:ln w="19050">
            <a:solidFill>
              <a:srgbClr val="5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804672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0" y="804672"/>
            <a:ext cx="64008" cy="566928"/>
          </a:xfrm>
          <a:prstGeom prst="rect">
            <a:avLst/>
          </a:prstGeom>
          <a:solidFill>
            <a:srgbClr val="5D7A8A"/>
          </a:solidFill>
          <a:ln w="12700">
            <a:solidFill>
              <a:srgbClr val="5D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80467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627632"/>
            <a:ext cx="566928" cy="56692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9784" y="2194560"/>
            <a:ext cx="0" cy="256032"/>
          </a:xfrm>
          <a:prstGeom prst="line">
            <a:avLst/>
          </a:prstGeom>
          <a:noFill/>
          <a:ln w="19050">
            <a:solidFill>
              <a:srgbClr val="5D7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1627632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1627632"/>
            <a:ext cx="64008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162763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450592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50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9784" y="3017520"/>
            <a:ext cx="0" cy="256032"/>
          </a:xfrm>
          <a:prstGeom prst="line">
            <a:avLst/>
          </a:prstGeom>
          <a:noFill/>
          <a:ln w="19050">
            <a:solidFill>
              <a:srgbClr val="5D7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2450592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2450592"/>
            <a:ext cx="64008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245059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273552"/>
            <a:ext cx="566928" cy="56692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73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29784" y="3840480"/>
            <a:ext cx="0" cy="256032"/>
          </a:xfrm>
          <a:prstGeom prst="line">
            <a:avLst/>
          </a:prstGeom>
          <a:noFill/>
          <a:ln w="19050">
            <a:solidFill>
              <a:srgbClr val="5D7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3273552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3273552"/>
            <a:ext cx="64008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327355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Tests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4096512"/>
            <a:ext cx="566928" cy="56692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77840" y="4096512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77840" y="4096512"/>
            <a:ext cx="64008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409651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covers transactional sales across multiple business dimensions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product categories, geographic regions, and customer segments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real-world retail business operations (2014–2017)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evaluation of performance across time and geography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strategic decision-making using data-backed evidence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77724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0" y="777240"/>
            <a:ext cx="19202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3 Categories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· Furniture · Office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77724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0" y="777240"/>
            <a:ext cx="19202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4 Regions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128016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· East · Central · South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8803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880360"/>
            <a:ext cx="19202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3 Segments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· Corp · Home Office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2880360"/>
            <a:ext cx="1920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2880360"/>
            <a:ext cx="192024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4 Years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38328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2017 Transactions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94944" y="822960"/>
            <a:ext cx="749808" cy="7498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8229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90472" y="1161288"/>
            <a:ext cx="475488" cy="64008"/>
          </a:xfrm>
          <a:prstGeom prst="rect">
            <a:avLst/>
          </a:prstGeom>
          <a:solidFill>
            <a:srgbClr val="5D7A8A"/>
          </a:solidFill>
          <a:ln w="12700">
            <a:solidFill>
              <a:srgbClr val="5D7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737360"/>
            <a:ext cx="1572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737360"/>
            <a:ext cx="1572768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737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157984"/>
            <a:ext cx="1481328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type corrections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32304" y="822960"/>
            <a:ext cx="749808" cy="7498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8229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27832" y="1161288"/>
            <a:ext cx="475488" cy="64008"/>
          </a:xfrm>
          <a:prstGeom prst="rect">
            <a:avLst/>
          </a:prstGeom>
          <a:solidFill>
            <a:srgbClr val="5D7A8A"/>
          </a:solidFill>
          <a:ln w="12700">
            <a:solidFill>
              <a:srgbClr val="5D7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1737360"/>
            <a:ext cx="1572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93392" y="1737360"/>
            <a:ext cx="1572768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1737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39112" y="2157984"/>
            <a:ext cx="1481328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features, Shipping Days metric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69664" y="822960"/>
            <a:ext cx="749808" cy="7498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9664" y="8229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965192" y="1161288"/>
            <a:ext cx="475488" cy="64008"/>
          </a:xfrm>
          <a:prstGeom prst="rect">
            <a:avLst/>
          </a:prstGeom>
          <a:solidFill>
            <a:srgbClr val="5D7A8A"/>
          </a:solidFill>
          <a:ln w="12700">
            <a:solidFill>
              <a:srgbClr val="5D7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30752" y="1737360"/>
            <a:ext cx="1572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30752" y="1737360"/>
            <a:ext cx="1572768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1737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76472" y="2157984"/>
            <a:ext cx="1481328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distributions, correlations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07024" y="822960"/>
            <a:ext cx="749808" cy="7498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07024" y="8229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702552" y="1161288"/>
            <a:ext cx="475488" cy="64008"/>
          </a:xfrm>
          <a:prstGeom prst="rect">
            <a:avLst/>
          </a:prstGeom>
          <a:solidFill>
            <a:srgbClr val="5D7A8A"/>
          </a:solidFill>
          <a:ln w="12700">
            <a:solidFill>
              <a:srgbClr val="5D7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68112" y="1737360"/>
            <a:ext cx="1572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68112" y="1737360"/>
            <a:ext cx="1572768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68112" y="1737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13832" y="2157984"/>
            <a:ext cx="1481328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volume, efficiency metrics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44384" y="822960"/>
            <a:ext cx="749808" cy="7498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44384" y="8229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205472" y="1737360"/>
            <a:ext cx="15727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05472" y="1737360"/>
            <a:ext cx="1572768" cy="3657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1737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51192" y="2157984"/>
            <a:ext cx="1481328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&amp; Chi-Square validation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analytical pipeline: from raw data to statistically validated business insights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Story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exceeds $2.29M across the four-year period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year-over-year growth with a compound upward trajectory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(Oct–Dec) consistently drives peak sales — holiday effect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unevenly distributed across categories, regions, and segments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spikes indicate demand cycles and promotional impact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617720" y="713232"/>
          <a:ext cx="4251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Insight Story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contributes the highest revenue — ~36% share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shows high sales value but compressed profit margins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drives transaction volume via low-ticket, repeat orders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in Technology indicates category dependency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strengthen Office Supplies margins and Furniture mix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617720" y="713232"/>
          <a:ext cx="4251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Insight Story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accounts for ~31% of total revenue — the clear market leader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closely follows as the second-strongest contributor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and South regions represent under-penetrated growth markets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creates revenue fragility risk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regional strategies can unlock $200K+ in latent demand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617720" y="713232"/>
          <a:ext cx="4251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Contribution Story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sub-categories generate &gt;60% of total company revenue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Chairs, and Storage are the top three contributors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of ~1,840 products contributes remaining 40%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principle holds: 80% of sales from ~20% of products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promotion on top performers can amplify revenue further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617720" y="713232"/>
          <a:ext cx="4251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A04000"/>
          </a:solidFill>
          <a:ln w="12700">
            <a:solidFill>
              <a:srgbClr val="A04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Insight — Shipping Efficiency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shipping time is ~4 days across all order modes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and First Class orders show predictably shorter lead times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deliveries are more prevalent in Standard Class shipments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efficiency impacts customer satisfaction and repeat purchases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average ship time by 1 day could improve customer retention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617720" y="713232"/>
          <a:ext cx="4251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749808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49808"/>
            <a:ext cx="27432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749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Category Drives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152144"/>
            <a:ext cx="2596896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dominates at 36% share — Phones &amp; Copiers lead.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27248" y="749808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27248" y="749808"/>
            <a:ext cx="2743200" cy="347472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749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Geographic Imbalance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152144"/>
            <a:ext cx="2596896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East = 61% of revenue; Central &amp; South are underserved.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53328" y="749808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53328" y="749808"/>
            <a:ext cx="2743200" cy="34747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9048" y="749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Pareto Product Mix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152144"/>
            <a:ext cx="2596896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sub-categories generate 60%+ of total sales volume.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" y="29260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2926080"/>
            <a:ext cx="2743200" cy="347472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Segment Disparity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328416"/>
            <a:ext cx="2596896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(50%) &gt;&gt; Corporate (31%) &gt;&gt; Home Office (19%).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27248" y="29260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27248" y="2926080"/>
            <a:ext cx="2743200" cy="347472"/>
          </a:xfrm>
          <a:prstGeom prst="rect">
            <a:avLst/>
          </a:prstGeom>
          <a:solidFill>
            <a:srgbClr val="A04000"/>
          </a:solidFill>
          <a:ln w="12700">
            <a:solidFill>
              <a:srgbClr val="A04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Logistics Gap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328416"/>
            <a:ext cx="2596896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 averages 5+ days — room to improve retention.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53328" y="29260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53328" y="2926080"/>
            <a:ext cx="27432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9048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Seasonal Peaks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328416"/>
            <a:ext cx="2596896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consistently outperforms — inventory must scale ahead of demand.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— Objective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analytical findings using formal statistical methods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observational insight to data-backed evidence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risk of conclusions based on coincidence or bias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statistical rigor to strengthen business recommendations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tests selected to address distinct analytical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777240"/>
            <a:ext cx="193852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777240"/>
            <a:ext cx="1938528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77724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28032" y="1572768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28032" y="2057400"/>
            <a:ext cx="1792224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significant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sales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Technology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Furniture?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777240"/>
            <a:ext cx="193852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0" y="777240"/>
            <a:ext cx="1938528" cy="68580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77724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0" y="11430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of Independence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31152" y="1572768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31152" y="2057400"/>
            <a:ext cx="1792224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significant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Product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— Independent Samples (Category Sales)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Compare average sales between Technology vs Furniture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Type: Independent Sample T-Test (two-tailed)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(Null): No significant difference in mean sales between categories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(Alternative): Significant difference exists in mean sales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Level: α = 0.05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777240"/>
            <a:ext cx="141732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00016" y="7772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777240"/>
            <a:ext cx="141732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63056" y="7772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777240"/>
            <a:ext cx="141732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6096" y="777240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27048"/>
            <a:ext cx="1417320" cy="658368"/>
          </a:xfrm>
          <a:prstGeom prst="rect">
            <a:avLst/>
          </a:prstGeom>
          <a:solidFill>
            <a:srgbClr val="EAF2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1527048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(count)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527048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527048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1,847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89520" y="1527048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1527048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2276856"/>
            <a:ext cx="1417320" cy="658368"/>
          </a:xfrm>
          <a:prstGeom prst="rect">
            <a:avLst/>
          </a:prstGeom>
          <a:solidFill>
            <a:srgbClr val="EAF2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2276856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2276856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276856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$330.07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89520" y="2276856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6096" y="2276856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$350.19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3026664"/>
            <a:ext cx="1417320" cy="658368"/>
          </a:xfrm>
          <a:prstGeom prst="rect">
            <a:avLst/>
          </a:prstGeom>
          <a:solidFill>
            <a:srgbClr val="EAF2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3026664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3026664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3026664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$588.16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589520" y="3026664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6096" y="3026664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$532.02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63440" y="3776472"/>
            <a:ext cx="1417320" cy="658368"/>
          </a:xfrm>
          <a:prstGeom prst="rect">
            <a:avLst/>
          </a:prstGeom>
          <a:solidFill>
            <a:srgbClr val="EAF2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3776472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26480" y="3776472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776472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Normal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589520" y="3776472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6096" y="3776472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Normal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— Result &amp; Interpretation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347472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T-Statistic: approximately –0.95 (two-tailed)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obtained: &lt; 0.05 (statistically significant)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Reject the null hypothesis H₀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and Furniture show a statistically significant sales difference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category choice is a meaningful driver of revenue outcomes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4389120"/>
            <a:ext cx="3977640" cy="548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43891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H₀ REJECTED — Significant category sales difference confirmed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06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850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07592"/>
            <a:ext cx="13258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3075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307592"/>
            <a:ext cx="13258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3075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52360" y="1307592"/>
            <a:ext cx="1325880" cy="502920"/>
          </a:xfrm>
          <a:prstGeom prst="rect">
            <a:avLst/>
          </a:prstGeom>
          <a:solidFill>
            <a:srgbClr val="1F4E79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3075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90195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901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90195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901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–0.95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52360" y="190195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901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496312"/>
            <a:ext cx="132588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4963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2496312"/>
            <a:ext cx="132588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4963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52360" y="2496312"/>
            <a:ext cx="132588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24963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09067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0906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(threshold)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309067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0906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52360" y="309067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30906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685032"/>
            <a:ext cx="132588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6850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3685032"/>
            <a:ext cx="132588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36850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52360" y="3685032"/>
            <a:ext cx="1325880" cy="502920"/>
          </a:xfrm>
          <a:prstGeom prst="rect">
            <a:avLst/>
          </a:prstGeom>
          <a:solidFill>
            <a:srgbClr val="EAF2FB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36850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427939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2793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80760" y="427939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42793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differ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52360" y="427939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42793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— Region vs Category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Test whether Region and Product Category are independent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Type: Chi-Square Test of Independence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(Null): Region and Category are independent (no association)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(Alternative): Region and Category are significantly associated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Level: α = 0.05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777240"/>
            <a:ext cx="1069848" cy="640080"/>
          </a:xfrm>
          <a:prstGeom prst="rect">
            <a:avLst/>
          </a:prstGeom>
          <a:solidFill>
            <a:srgbClr val="6A0572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77724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Cat.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779008" y="777240"/>
            <a:ext cx="1069848" cy="640080"/>
          </a:xfrm>
          <a:prstGeom prst="rect">
            <a:avLst/>
          </a:prstGeom>
          <a:solidFill>
            <a:srgbClr val="6A0572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79008" y="77724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94576" y="777240"/>
            <a:ext cx="1069848" cy="640080"/>
          </a:xfrm>
          <a:prstGeom prst="rect">
            <a:avLst/>
          </a:prstGeom>
          <a:solidFill>
            <a:srgbClr val="6A0572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94576" y="77724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10144" y="777240"/>
            <a:ext cx="1069848" cy="640080"/>
          </a:xfrm>
          <a:prstGeom prst="rect">
            <a:avLst/>
          </a:prstGeom>
          <a:solidFill>
            <a:srgbClr val="6A0572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10144" y="77724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1069848" cy="640080"/>
          </a:xfrm>
          <a:prstGeom prst="rect">
            <a:avLst/>
          </a:prstGeom>
          <a:solidFill>
            <a:srgbClr val="F0E6F6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087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79008" y="1508760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15087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94576" y="1508760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15087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0144" y="1508760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0144" y="15087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618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240280"/>
            <a:ext cx="1069848" cy="640080"/>
          </a:xfrm>
          <a:prstGeom prst="rect">
            <a:avLst/>
          </a:prstGeom>
          <a:solidFill>
            <a:srgbClr val="F0E6F6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4028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779008" y="2240280"/>
            <a:ext cx="1069848" cy="64008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224028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94576" y="2240280"/>
            <a:ext cx="1069848" cy="64008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224028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10144" y="2240280"/>
            <a:ext cx="1069848" cy="64008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10144" y="224028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2971800"/>
            <a:ext cx="1069848" cy="640080"/>
          </a:xfrm>
          <a:prstGeom prst="rect">
            <a:avLst/>
          </a:prstGeom>
          <a:solidFill>
            <a:srgbClr val="F0E6F6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97180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79008" y="2971800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79008" y="297180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94576" y="2971800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297180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10144" y="2971800"/>
            <a:ext cx="106984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0144" y="297180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3703320"/>
            <a:ext cx="1069848" cy="640080"/>
          </a:xfrm>
          <a:prstGeom prst="rect">
            <a:avLst/>
          </a:prstGeom>
          <a:solidFill>
            <a:srgbClr val="F0E6F6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70332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779008" y="3703320"/>
            <a:ext cx="1069848" cy="64008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79008" y="370332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894576" y="3703320"/>
            <a:ext cx="1069848" cy="64008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94576" y="370332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10144" y="3703320"/>
            <a:ext cx="1069848" cy="64008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10144" y="370332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346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663440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frequency table (order counts by Region &amp; Category)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— Result &amp; Interpretation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4206240" cy="347472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Statistic (χ²): approximately 12.4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 (df): 6  (rows–1) × (cols–1)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&lt; 0.05 — statistically significant association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Reject null hypothesis H₀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Category are NOT independent — product preferences vary by geography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4389120"/>
            <a:ext cx="3977640" cy="5486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43891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H₀ REJECTED — Region significantly affects category demand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062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850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07592"/>
            <a:ext cx="1325880" cy="502920"/>
          </a:xfrm>
          <a:prstGeom prst="rect">
            <a:avLst/>
          </a:prstGeom>
          <a:solidFill>
            <a:srgbClr val="6A0572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3075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307592"/>
            <a:ext cx="1325880" cy="502920"/>
          </a:xfrm>
          <a:prstGeom prst="rect">
            <a:avLst/>
          </a:prstGeom>
          <a:solidFill>
            <a:srgbClr val="6A0572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3075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52360" y="1307592"/>
            <a:ext cx="1325880" cy="502920"/>
          </a:xfrm>
          <a:prstGeom prst="rect">
            <a:avLst/>
          </a:prstGeom>
          <a:solidFill>
            <a:srgbClr val="6A0572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3075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90195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901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Statistic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90195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901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52360" y="190195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901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496312"/>
            <a:ext cx="1325880" cy="502920"/>
          </a:xfrm>
          <a:prstGeom prst="rect">
            <a:avLst/>
          </a:prstGeom>
          <a:solidFill>
            <a:srgbClr val="F0E6F6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4963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 of Freedom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2496312"/>
            <a:ext cx="1325880" cy="502920"/>
          </a:xfrm>
          <a:prstGeom prst="rect">
            <a:avLst/>
          </a:prstGeom>
          <a:solidFill>
            <a:srgbClr val="F0E6F6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4963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52360" y="2496312"/>
            <a:ext cx="1325880" cy="502920"/>
          </a:xfrm>
          <a:prstGeom prst="rect">
            <a:avLst/>
          </a:prstGeom>
          <a:solidFill>
            <a:srgbClr val="F0E6F6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249631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09067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0906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309067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0906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52360" y="309067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309067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685032"/>
            <a:ext cx="1325880" cy="502920"/>
          </a:xfrm>
          <a:prstGeom prst="rect">
            <a:avLst/>
          </a:prstGeom>
          <a:solidFill>
            <a:srgbClr val="F0E6F6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6850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Hypothesis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3685032"/>
            <a:ext cx="1325880" cy="502920"/>
          </a:xfrm>
          <a:prstGeom prst="rect">
            <a:avLst/>
          </a:prstGeom>
          <a:solidFill>
            <a:srgbClr val="F0E6F6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36850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52360" y="3685032"/>
            <a:ext cx="1325880" cy="502920"/>
          </a:xfrm>
          <a:prstGeom prst="rect">
            <a:avLst/>
          </a:prstGeom>
          <a:solidFill>
            <a:srgbClr val="F0E6F6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36850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✔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427939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2793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80760" y="427939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42793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matters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52360" y="4279392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2360" y="42793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Conclusion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926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41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01168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H₀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397764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sales are statistically significantly different from Furniture — category choice is a genuine business driver, not noise.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206240" cy="292608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841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201168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H₀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977640" cy="1691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Product Category are NOT independent — geographic location meaningfully shapes customer product preferences.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88620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confirm business insights are statistically validated — not based on assumptions.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95%  |  α = 0.05  |  Both p-values &lt; 0.05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01168" y="74980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49808"/>
            <a:ext cx="502920" cy="1234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74980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8096" y="8138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Technology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122529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Phones, Copiers, and Accessories — highest margin sub-categories.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1728" y="74980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749808"/>
            <a:ext cx="502920" cy="1234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74980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48656" y="8138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 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48656" y="122529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targeted campaigns in Central &amp; South to reduce geographic concentration.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" y="216712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2167128"/>
            <a:ext cx="502920" cy="1234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216712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8096" y="22311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Planning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" y="264261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Pre-build inventory ahead of Q4 to capitalise on peak demand and reduce stockouts.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1728" y="216712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81728" y="2167128"/>
            <a:ext cx="502920" cy="1234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16712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48656" y="22311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Segment-Specific Marketing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48656" y="264261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messaging for Consumer; solution-selling and SLAs for Corporate.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" y="358444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3584448"/>
            <a:ext cx="502920" cy="1234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358444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🚚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68096" y="36484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Optimisation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8096" y="405993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Standard Class fulfillment; reduce avg shipping days by 20%.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1728" y="358444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81728" y="3584448"/>
            <a:ext cx="502920" cy="12344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58444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48656" y="36484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Planning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48656" y="405993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EDA + hypothesis testing in quarterly business review cadence.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connects analysis to real business impact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321040" cy="2560320"/>
          </a:xfrm>
          <a:prstGeom prst="rect">
            <a:avLst/>
          </a:prstGeom>
          <a:noFill/>
          <a:ln/>
        </p:spPr>
        <p:txBody>
          <a:bodyPr wrap="square" lIns="50800" tIns="127000" rIns="508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transforms raw numbers into clear, stakeholder-ready business narratives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 (T-Test + Chi-Square) confirms insights are evidence-backed, not assumed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West Region are primary revenue levers; Central &amp; South hold untapped growth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— particularly shipping — is a measurable lever for customer retention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methodology provides a repeatable framework for ongoing data-driven decision-making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160520"/>
            <a:ext cx="9144000" cy="7132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16052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PPT Deck   ·   🧹 Clean Dataset   ·   📓 Jupyter Notebook   ·   📈 Power BI Dashboard   ·   🧪 Hypothesis Tests   ·   💻 GitHub Repo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Storytelling &amp; Statistical Validation</dc:title>
  <dc:subject>PptxGenJS Presentation</dc:subject>
  <dc:creator>PptxGenJS</dc:creator>
  <cp:lastModifiedBy>PptxGenJS</cp:lastModifiedBy>
  <cp:revision>1</cp:revision>
  <dcterms:created xsi:type="dcterms:W3CDTF">2026-05-01T20:39:53Z</dcterms:created>
  <dcterms:modified xsi:type="dcterms:W3CDTF">2026-05-01T20:39:53Z</dcterms:modified>
</cp:coreProperties>
</file>