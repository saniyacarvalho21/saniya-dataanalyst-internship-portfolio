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Avg Monthly Sales – All Years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($)</c:v>
                </c:pt>
              </c:strCache>
            </c:strRef>
          </c:tx>
          <c:spPr>
            <a:solidFill>
              <a:srgbClr val="1560BD"/>
            </a:solidFill>
            <a:ln w="38100" cap="flat">
              <a:solidFill>
                <a:srgbClr val="1560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0BD"/>
              </a:solidFill>
              <a:ln w="9525" cap="flat">
                <a:solidFill>
                  <a:srgbClr val="1560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18200</c:v>
                </c:pt>
                <c:pt idx="1">
                  <c:v>14500</c:v>
                </c:pt>
                <c:pt idx="2">
                  <c:v>21000</c:v>
                </c:pt>
                <c:pt idx="3">
                  <c:v>16800</c:v>
                </c:pt>
                <c:pt idx="4">
                  <c:v>22000</c:v>
                </c:pt>
                <c:pt idx="5">
                  <c:v>25000</c:v>
                </c:pt>
                <c:pt idx="6">
                  <c:v>23500</c:v>
                </c:pt>
                <c:pt idx="7">
                  <c:v>27000</c:v>
                </c:pt>
                <c:pt idx="8">
                  <c:v>29000</c:v>
                </c:pt>
                <c:pt idx="9">
                  <c:v>32000</c:v>
                </c:pt>
                <c:pt idx="10">
                  <c:v>38000</c:v>
                </c:pt>
                <c:pt idx="11">
                  <c:v>35000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Sales by Product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1560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0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6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ED6F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</c:v>
                </c:pt>
                <c:pt idx="1">
                  <c:v>741999</c:v>
                </c:pt>
                <c:pt idx="2">
                  <c:v>719047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Revenue Distribution by Region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bubble3D val="0"/>
            <c:spPr>
              <a:solidFill>
                <a:srgbClr val="1560BD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Pt>
            <c:idx val="3"/>
            <c:bubble3D val="0"/>
            <c:spPr>
              <a:solidFill>
                <a:srgbClr val="AED6F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725458</c:v>
                </c:pt>
                <c:pt idx="1">
                  <c:v>678781</c:v>
                </c:pt>
                <c:pt idx="2">
                  <c:v>501240</c:v>
                </c:pt>
                <c:pt idx="3">
                  <c:v>391722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Sales by Customer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by Segment</c:v>
                </c:pt>
              </c:strCache>
            </c:strRef>
          </c:tx>
          <c:spPr>
            <a:solidFill>
              <a:srgbClr val="6A05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A05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E93D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1161401</c:v>
                </c:pt>
                <c:pt idx="1">
                  <c:v>706146</c:v>
                </c:pt>
                <c:pt idx="2">
                  <c:v>429653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Top 10 Sub-Categories by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1560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Phones</c:v>
                  </c:pt>
                  <c:pt idx="1">
                    <c:v>Chairs</c:v>
                  </c:pt>
                  <c:pt idx="2">
                    <c:v>Storage</c:v>
                  </c:pt>
                  <c:pt idx="3">
                    <c:v>Tables</c:v>
                  </c:pt>
                  <c:pt idx="4">
                    <c:v>Binders</c:v>
                  </c:pt>
                  <c:pt idx="5">
                    <c:v>Machines</c:v>
                  </c:pt>
                  <c:pt idx="6">
                    <c:v>Accessories</c:v>
                  </c:pt>
                  <c:pt idx="7">
                    <c:v>Copiers</c:v>
                  </c:pt>
                  <c:pt idx="8">
                    <c:v>Bookcases</c:v>
                  </c:pt>
                  <c:pt idx="9">
                    <c:v>Appliances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330007</c:v>
                </c:pt>
                <c:pt idx="1">
                  <c:v>328449</c:v>
                </c:pt>
                <c:pt idx="2">
                  <c:v>223844</c:v>
                </c:pt>
                <c:pt idx="3">
                  <c:v>206966</c:v>
                </c:pt>
                <c:pt idx="4">
                  <c:v>203413</c:v>
                </c:pt>
                <c:pt idx="5">
                  <c:v>189239</c:v>
                </c:pt>
                <c:pt idx="6">
                  <c:v>167380</c:v>
                </c:pt>
                <c:pt idx="7">
                  <c:v>149528</c:v>
                </c:pt>
                <c:pt idx="8">
                  <c:v>114880</c:v>
                </c:pt>
                <c:pt idx="9">
                  <c:v>107532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63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636"/>
                </a:solidFill>
                <a:latin typeface="Arial"/>
              </a:rPr>
              <a:t>Sales vs Shipping Days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vs Ship Days</c:v>
                </c:pt>
              </c:strCache>
            </c:strRef>
          </c:tx>
          <c:spPr>
            <a:solidFill>
              <a:srgbClr val="1560BD"/>
            </a:solidFill>
            <a:ln w="25400" cap="flat">
              <a:solidFill>
                <a:srgbClr val="1560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0BD"/>
              </a:solidFill>
              <a:ln w="9525" cap="flat">
                <a:solidFill>
                  <a:srgbClr val="1560BD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6</c:v>
                </c:pt>
                <c:pt idx="11">
                  <c:v>7</c:v>
                </c:pt>
                <c:pt idx="12">
                  <c:v>8</c:v>
                </c:pt>
                <c:pt idx="13">
                  <c:v>3</c:v>
                </c:pt>
                <c:pt idx="14">
                  <c:v>5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850</c:v>
                </c:pt>
                <c:pt idx="1">
                  <c:v>620</c:v>
                </c:pt>
                <c:pt idx="2">
                  <c:v>740</c:v>
                </c:pt>
                <c:pt idx="3">
                  <c:v>510</c:v>
                </c:pt>
                <c:pt idx="4">
                  <c:v>680</c:v>
                </c:pt>
                <c:pt idx="5">
                  <c:v>400</c:v>
                </c:pt>
                <c:pt idx="6">
                  <c:v>550</c:v>
                </c:pt>
                <c:pt idx="7">
                  <c:v>350</c:v>
                </c:pt>
                <c:pt idx="8">
                  <c:v>420</c:v>
                </c:pt>
                <c:pt idx="9">
                  <c:v>280</c:v>
                </c:pt>
                <c:pt idx="10">
                  <c:v>360</c:v>
                </c:pt>
                <c:pt idx="11">
                  <c:v>200</c:v>
                </c:pt>
                <c:pt idx="12">
                  <c:v>150</c:v>
                </c:pt>
                <c:pt idx="13">
                  <c:v>590</c:v>
                </c:pt>
                <c:pt idx="14">
                  <c:v>310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Analysis &amp; Business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2331720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Matplotlib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Transform raw transactional data into actionable business intelligence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1920240" cy="914400"/>
          </a:xfrm>
          <a:prstGeom prst="rect">
            <a:avLst/>
          </a:prstGeom>
          <a:solidFill>
            <a:srgbClr val="1560B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2920" y="4315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840480"/>
            <a:ext cx="1920240" cy="914400"/>
          </a:xfrm>
          <a:prstGeom prst="rect">
            <a:avLst/>
          </a:prstGeom>
          <a:solidFill>
            <a:srgbClr val="1560B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4315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840480"/>
            <a:ext cx="1920240" cy="914400"/>
          </a:xfrm>
          <a:prstGeom prst="rect">
            <a:avLst/>
          </a:prstGeom>
          <a:solidFill>
            <a:srgbClr val="1560B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09160" y="4315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3840480"/>
            <a:ext cx="1920240" cy="914400"/>
          </a:xfrm>
          <a:prstGeom prst="rect">
            <a:avLst/>
          </a:prstGeom>
          <a:solidFill>
            <a:srgbClr val="1560B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12280" y="43159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97680" cy="411480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 9,994 transactional sales records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orders placed across 4 US regions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multi-year sales spanning 2014–2017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trend analysis, segmentation, and performance evaluation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data enables cross-category comparisons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37760" y="7772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0" y="77724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777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/ Ship Date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106984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dimension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77724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77724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777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/ Sub-Category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106984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hierarchy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19456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219456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/ 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8716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219456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219456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194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248716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metric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61188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61188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90448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type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3611880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3611880"/>
            <a:ext cx="18288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3904488"/>
            <a:ext cx="182880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identity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97680" cy="411480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all 21 columns for null / missing values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types: dates, numerics, and categoricals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inconsistencies in column naming conventions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no duplicate Order IDs affecting aggregation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deemed reliable for downstream analysis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46320" y="777240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0" y="777240"/>
            <a:ext cx="73152" cy="6583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7772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7772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Found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81912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81912"/>
            <a:ext cx="73152" cy="6583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81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158191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Detected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386584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386584"/>
            <a:ext cx="73152" cy="6583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865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386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191256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191256"/>
            <a:ext cx="73152" cy="6583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912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Types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319125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995928"/>
            <a:ext cx="3977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995928"/>
            <a:ext cx="73152" cy="658368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9959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399592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7772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411480" cy="73152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8308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164592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121408"/>
            <a:ext cx="1554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 &amp; Ship Date to datetime format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7772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411480" cy="73152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78308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783080"/>
            <a:ext cx="164592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7400" y="2121408"/>
            <a:ext cx="1554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to lowercase snake_case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7772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0" y="1143000"/>
            <a:ext cx="411480" cy="73152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78308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783080"/>
            <a:ext cx="164592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2121408"/>
            <a:ext cx="1554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with critical missing fields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7772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66560" y="1143000"/>
            <a:ext cx="411480" cy="73152"/>
          </a:xfrm>
          <a:prstGeom prst="rect">
            <a:avLst/>
          </a:prstGeom>
          <a:solidFill>
            <a:srgbClr val="5D7A8A"/>
          </a:solidFill>
          <a:ln w="12700">
            <a:solidFill>
              <a:srgbClr val="5D7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78308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783080"/>
            <a:ext cx="164592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32120" y="2121408"/>
            <a:ext cx="1554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duplicate transaction entries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35240" y="777240"/>
            <a:ext cx="822960" cy="82296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23760" y="1783080"/>
            <a:ext cx="16459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1783080"/>
            <a:ext cx="1645920" cy="29260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Dtypes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2121408"/>
            <a:ext cx="155448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Sales/Profit are float, IDs are strings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Clean, analysis-ready dataset with consistent formatting and no missing critical values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5196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Year, Month, Day, and Weekday from Order Date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Shipping Days = Ship Date − Order Date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deeper analysis of seasonality and demand cycles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Days metric proxies operational/logistics efficiency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power time-series and correlation analyses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92040" y="77724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92040" y="777240"/>
            <a:ext cx="1828800" cy="36576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777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83480" y="1261872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2618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1975104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9751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2688336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688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401568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4015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828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182880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777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95160" y="1261872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2618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Days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95160" y="1975104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197510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(Ship − Order)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95160" y="2688336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68833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proxy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95160" y="3401568"/>
            <a:ext cx="1645920" cy="566928"/>
          </a:xfrm>
          <a:prstGeom prst="rect">
            <a:avLst/>
          </a:prstGeom>
          <a:solidFill>
            <a:srgbClr val="F7FAFD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4015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KPI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expands analytical depth without altering underlying raw data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show a clear upward trajectory year-over-year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(Oct–Dec) consistently registers peak demand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and April tend to be low-sales months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cycles suggest holiday-driven purchasing behaviour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growth indicates healthy business momentum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generates highest revenue among all categories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shows high sales value but lower profit margin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 drives volume through frequent low-ticket orders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analysis reveals Phones &amp; Chairs as top contributors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provides a diversified revenue base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5A8A"/>
          </a:solidFill>
          <a:ln w="12700">
            <a:solidFill>
              <a:srgbClr val="0E5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contributes the highest share of total revenue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region closely follows as the second-strongest market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and South regions show growth potential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distribution indicates concentration risk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strategy optimisation can unlock untapped demand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accounts for the majority of total revenue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segment yields higher average order values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shows the smallest volume but consistent growth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behaviour differs significantly across categories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personalised marketing and targeted promotions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account for a disproportionate share of revenue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distribution observed across ~1,850 unique products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Phones, Copiers, and Chairs dominate high-value transactions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dependency on a small product cohort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to cross-sell adjacent high-margin sub-categories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A04000"/>
          </a:solidFill>
          <a:ln w="12700">
            <a:solidFill>
              <a:srgbClr val="A04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5196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analysis revealed high-value transaction outliers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sales range from $5,000 to over $22,000 per order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represent bulk corporate or government purchases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skew mean; median provides a more robust central measure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separate treatment in predictive modelling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8686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9418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(Illustrative Boxplot)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3035808"/>
            <a:ext cx="201168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2423160"/>
            <a:ext cx="2011680" cy="1280160"/>
          </a:xfrm>
          <a:prstGeom prst="rect">
            <a:avLst/>
          </a:prstGeom>
          <a:solidFill>
            <a:srgbClr val="D6EAF8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1508760"/>
            <a:ext cx="0" cy="914400"/>
          </a:xfrm>
          <a:prstGeom prst="line">
            <a:avLst/>
          </a:prstGeom>
          <a:noFill/>
          <a:ln w="19050">
            <a:solidFill>
              <a:srgbClr val="1560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508760"/>
            <a:ext cx="868680" cy="0"/>
          </a:xfrm>
          <a:prstGeom prst="line">
            <a:avLst/>
          </a:prstGeom>
          <a:noFill/>
          <a:ln w="19050">
            <a:solidFill>
              <a:srgbClr val="1560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3703320"/>
            <a:ext cx="0" cy="777240"/>
          </a:xfrm>
          <a:prstGeom prst="line">
            <a:avLst/>
          </a:prstGeom>
          <a:noFill/>
          <a:ln w="19050">
            <a:solidFill>
              <a:srgbClr val="1560B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4480560"/>
            <a:ext cx="868680" cy="0"/>
          </a:xfrm>
          <a:prstGeom prst="line">
            <a:avLst/>
          </a:prstGeom>
          <a:noFill/>
          <a:ln w="19050">
            <a:solidFill>
              <a:srgbClr val="1560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252728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1161288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033272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33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Outliers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23774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(75th)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86384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(25th)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Relationships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931920" cy="4023360"/>
          </a:xfrm>
          <a:prstGeom prst="rect">
            <a:avLst/>
          </a:prstGeom>
          <a:noFill/>
          <a:ln/>
        </p:spPr>
        <p:txBody>
          <a:bodyPr wrap="square" lIns="50800" tIns="101600" rIns="50800" bIns="508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Shipping Days: slight negative correlation observed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may correlate with higher-priority (higher-value) orders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orders tend to have shorter shipping durations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levels show a non-linear relationship with profit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Multi-variable correlations guide feature selection for modelling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434840" y="713232"/>
          <a:ext cx="4480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Technology Dominates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" y="117957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category. Phones &amp; Copiers are top sub-categories.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36392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36392" y="77724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West Region Leads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9544" y="117957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~31% of total sales — 2× the South region.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44184" y="777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44184" y="77724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777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Revenue Concentration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17336" y="117957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sub-categories drive &gt;60% of total company revenue.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Segment Variation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" y="332841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(50%) &gt;&gt; Corporate (30%) &gt;&gt; Home Office (18%).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36392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36392" y="292608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82112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Logistics Impact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9544" y="332841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shipping correlates with higher-value Technology orders.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29260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44184" y="2926080"/>
            <a:ext cx="2743200" cy="347472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29260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Seasonal Peaks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17336" y="3328416"/>
            <a:ext cx="2596896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consistently outperforms all other quarters every year.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841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Technology sub-categories; review Furniture margins.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90872" y="7772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7772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7772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8412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2161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Central &amp; South to reduce geographic concentration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148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1488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25877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shipping days to improve customer satisfaction and sales.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90872" y="21488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21488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21488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2212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5877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campaigns per segment: B2C for Consumer, B2B for Corporate.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35204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5204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5204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5528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Planning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5528" y="39593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inventory before Q4 to maximise peak demand capture.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520440"/>
            <a:ext cx="4251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3520440"/>
            <a:ext cx="502920" cy="1188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52044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257800" y="3584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Prioritisation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95935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promote top-performing sub-categories; rationalise tail.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successfully uncovered critical patterns and revenue drivers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321040" cy="2834640"/>
          </a:xfrm>
          <a:prstGeom prst="rect">
            <a:avLst/>
          </a:prstGeom>
          <a:noFill/>
          <a:ln/>
        </p:spPr>
        <p:txBody>
          <a:bodyPr wrap="square" lIns="50800" tIns="127000" rIns="50800" bIns="5080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 reveals actionable business intelligence beyond surface metrics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West Region are primary growth levers; Central &amp; South offer expansion opportunity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in top sub-categories presents both strength and portfolio risk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peaks (Q4) require proactive inventory and logistics planning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provides a robust foundation for dashboard development and predictive modelling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560BD"/>
          </a:solidFill>
          <a:ln w="12700">
            <a:solidFill>
              <a:srgbClr val="156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Interactive Dashboard  →  Predictive Modelling  →  Business Reporting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– Superstore Sales</dc:title>
  <dc:subject>PptxGenJS Presentation</dc:subject>
  <dc:creator>PptxGenJS</dc:creator>
  <cp:lastModifiedBy>PptxGenJS</cp:lastModifiedBy>
  <cp:revision>1</cp:revision>
  <dcterms:created xsi:type="dcterms:W3CDTF">2026-05-01T20:28:44Z</dcterms:created>
  <dcterms:modified xsi:type="dcterms:W3CDTF">2026-05-01T20:28:44Z</dcterms:modified>
</cp:coreProperties>
</file>